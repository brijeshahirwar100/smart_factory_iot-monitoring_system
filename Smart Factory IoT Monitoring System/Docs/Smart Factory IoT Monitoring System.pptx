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bold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3.jp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" name="Google Shape;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3"/>
          <p:cNvSpPr txBox="1"/>
          <p:nvPr/>
        </p:nvSpPr>
        <p:spPr>
          <a:xfrm>
            <a:off x="381000" y="2571750"/>
            <a:ext cx="2095500" cy="113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SMART</a:t>
            </a:r>
            <a:endParaRPr b="1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FACTORY</a:t>
            </a:r>
            <a:endParaRPr b="1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7B2FF7"/>
                </a:solidFill>
                <a:latin typeface="Poppins"/>
                <a:ea typeface="Poppins"/>
                <a:cs typeface="Poppins"/>
                <a:sym typeface="Poppins"/>
              </a:rPr>
              <a:t>IoT SYSTEM</a:t>
            </a:r>
            <a:endParaRPr b="0" sz="1400">
              <a:solidFill>
                <a:srgbClr val="7B2FF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Google Shape;24;p13"/>
          <p:cNvSpPr txBox="1"/>
          <p:nvPr/>
        </p:nvSpPr>
        <p:spPr>
          <a:xfrm>
            <a:off x="3429000" y="1333500"/>
            <a:ext cx="8001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SMART FACTORY</a:t>
            </a:r>
            <a:endParaRPr b="1" sz="493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30">
                <a:solidFill>
                  <a:srgbClr val="7B2FF7"/>
                </a:solidFill>
                <a:latin typeface="Poppins"/>
                <a:ea typeface="Poppins"/>
                <a:cs typeface="Poppins"/>
                <a:sym typeface="Poppins"/>
              </a:rPr>
              <a:t>IoT MONITORING SYSTEM</a:t>
            </a:r>
            <a:endParaRPr b="1" sz="4930">
              <a:solidFill>
                <a:srgbClr val="7B2FF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" name="Google Shape;25;p13"/>
          <p:cNvGrpSpPr/>
          <p:nvPr/>
        </p:nvGrpSpPr>
        <p:grpSpPr>
          <a:xfrm>
            <a:off x="3429000" y="3238500"/>
            <a:ext cx="8001000" cy="571500"/>
            <a:chOff x="3429000" y="3238500"/>
            <a:chExt cx="8001000" cy="571500"/>
          </a:xfrm>
        </p:grpSpPr>
        <p:sp>
          <p:nvSpPr>
            <p:cNvPr id="26" name="Google Shape;26;p13"/>
            <p:cNvSpPr/>
            <p:nvPr/>
          </p:nvSpPr>
          <p:spPr>
            <a:xfrm>
              <a:off x="3429000" y="3238500"/>
              <a:ext cx="762000" cy="38100"/>
            </a:xfrm>
            <a:prstGeom prst="rect">
              <a:avLst/>
            </a:prstGeom>
            <a:solidFill>
              <a:srgbClr val="7B2F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3"/>
            <p:cNvSpPr txBox="1"/>
            <p:nvPr/>
          </p:nvSpPr>
          <p:spPr>
            <a:xfrm>
              <a:off x="3429000" y="3429000"/>
              <a:ext cx="800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Real-Time Industrial Monitoring &amp; Automation using IoT</a:t>
              </a:r>
              <a:endParaRPr b="0" sz="20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8" name="Google Shape;28;p13"/>
          <p:cNvSpPr txBox="1"/>
          <p:nvPr/>
        </p:nvSpPr>
        <p:spPr>
          <a:xfrm>
            <a:off x="3429000" y="4381500"/>
            <a:ext cx="5715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Brijesh Ahirwar (23095027)</a:t>
            </a:r>
            <a:endParaRPr b="1" sz="18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Department of Electronics Engineering</a:t>
            </a:r>
            <a:endParaRPr b="0" sz="14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IIT (BHU), Varanasi</a:t>
            </a:r>
            <a:endParaRPr b="0" sz="1400">
              <a:solidFill>
                <a:srgbClr val="B0B0B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assignment_turned_in</a:t>
            </a:r>
            <a:r>
              <a:rPr b="1" lang="en-US" sz="1400">
                <a:solidFill>
                  <a:srgbClr val="7B2FF7"/>
                </a:solidFill>
                <a:latin typeface="Lato"/>
                <a:ea typeface="Lato"/>
                <a:cs typeface="Lato"/>
                <a:sym typeface="Lato"/>
              </a:rPr>
              <a:t>IoT Internship Project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" name="Google Shape;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4"/>
          <p:cNvSpPr txBox="1"/>
          <p:nvPr/>
        </p:nvSpPr>
        <p:spPr>
          <a:xfrm>
            <a:off x="790546" y="2849900"/>
            <a:ext cx="1122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/>
          </a:p>
        </p:txBody>
      </p:sp>
      <p:sp>
        <p:nvSpPr>
          <p:cNvPr id="35" name="Google Shape;35;p14"/>
          <p:cNvSpPr txBox="1"/>
          <p:nvPr/>
        </p:nvSpPr>
        <p:spPr>
          <a:xfrm>
            <a:off x="790575" y="3417540"/>
            <a:ext cx="1276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Learning Journey</a:t>
            </a:r>
            <a:endParaRPr/>
          </a:p>
        </p:txBody>
      </p:sp>
      <p:sp>
        <p:nvSpPr>
          <p:cNvPr id="36" name="Google Shape;36;p14"/>
          <p:cNvSpPr txBox="1"/>
          <p:nvPr/>
        </p:nvSpPr>
        <p:spPr>
          <a:xfrm>
            <a:off x="3619500" y="571500"/>
            <a:ext cx="84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I Learned (Part 1)</a:t>
            </a:r>
            <a:endParaRPr/>
          </a:p>
        </p:txBody>
      </p:sp>
      <p:sp>
        <p:nvSpPr>
          <p:cNvPr id="37" name="Google Shape;37;p14"/>
          <p:cNvSpPr/>
          <p:nvPr/>
        </p:nvSpPr>
        <p:spPr>
          <a:xfrm>
            <a:off x="3429000" y="571500"/>
            <a:ext cx="47700" cy="685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4"/>
          <p:cNvSpPr txBox="1"/>
          <p:nvPr/>
        </p:nvSpPr>
        <p:spPr>
          <a:xfrm>
            <a:off x="3429000" y="1428750"/>
            <a:ext cx="81915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14287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memory</a:t>
            </a:r>
            <a:endParaRPr sz="2040">
              <a:solidFill>
                <a:srgbClr val="7B2FF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Arduino-based Embedded Design:</a:t>
            </a:r>
            <a:r>
              <a:rPr lang="en-US" sz="119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Mastered system design using PICSimLab simulation.</a:t>
            </a:r>
            <a:endParaRPr sz="119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142875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settings_input_component</a:t>
            </a:r>
            <a:endParaRPr sz="2040">
              <a:solidFill>
                <a:srgbClr val="7B2FF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Sensor Integration:</a:t>
            </a:r>
            <a:r>
              <a:rPr lang="en-US" sz="119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Implemented DHT22, LM35, LDR, PIR, and Reed switch modules.</a:t>
            </a:r>
            <a:endParaRPr sz="119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142875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terminal</a:t>
            </a:r>
            <a:endParaRPr sz="2040">
              <a:solidFill>
                <a:srgbClr val="7B2FF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Firmware Development:</a:t>
            </a:r>
            <a:r>
              <a:rPr lang="en-US" sz="119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Built logic for real-time data acquisition and processing.</a:t>
            </a:r>
            <a:endParaRPr sz="119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142875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swap_calls</a:t>
            </a:r>
            <a:endParaRPr sz="2040">
              <a:solidFill>
                <a:srgbClr val="7B2FF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MQTT Protocol:</a:t>
            </a:r>
            <a:r>
              <a:rPr lang="en-US" sz="119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Gained hands-on experience with the Publish/Subscribe communication model.</a:t>
            </a:r>
            <a:endParaRPr sz="119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142875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lan</a:t>
            </a:r>
            <a:endParaRPr sz="2040">
              <a:solidFill>
                <a:srgbClr val="7B2FF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Ethernet Communication:</a:t>
            </a:r>
            <a:r>
              <a:rPr lang="en-US" sz="119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Implemented reliable connectivity using the W5500 module.</a:t>
            </a:r>
            <a:endParaRPr sz="119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142875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cloud_upload</a:t>
            </a:r>
            <a:endParaRPr sz="2040">
              <a:solidFill>
                <a:srgbClr val="7B2FF7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Data Pipeline:</a:t>
            </a:r>
            <a:r>
              <a:rPr lang="en-US" sz="119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Built a complete end-to-end device-to-cloud data transmission flow.</a:t>
            </a:r>
            <a:endParaRPr sz="119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" name="Google Shape;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5"/>
          <p:cNvSpPr txBox="1"/>
          <p:nvPr/>
        </p:nvSpPr>
        <p:spPr>
          <a:xfrm>
            <a:off x="695325" y="2849900"/>
            <a:ext cx="139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/>
          </a:p>
        </p:txBody>
      </p:sp>
      <p:sp>
        <p:nvSpPr>
          <p:cNvPr id="45" name="Google Shape;45;p15"/>
          <p:cNvSpPr txBox="1"/>
          <p:nvPr/>
        </p:nvSpPr>
        <p:spPr>
          <a:xfrm>
            <a:off x="695325" y="3417540"/>
            <a:ext cx="1467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Advanced Concepts</a:t>
            </a:r>
            <a:endParaRPr/>
          </a:p>
        </p:txBody>
      </p:sp>
      <p:sp>
        <p:nvSpPr>
          <p:cNvPr id="46" name="Google Shape;46;p15"/>
          <p:cNvSpPr txBox="1"/>
          <p:nvPr/>
        </p:nvSpPr>
        <p:spPr>
          <a:xfrm>
            <a:off x="3619500" y="571500"/>
            <a:ext cx="84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I Learned (Part 2)</a:t>
            </a:r>
            <a:endParaRPr/>
          </a:p>
        </p:txBody>
      </p:sp>
      <p:sp>
        <p:nvSpPr>
          <p:cNvPr id="47" name="Google Shape;47;p15"/>
          <p:cNvSpPr/>
          <p:nvPr/>
        </p:nvSpPr>
        <p:spPr>
          <a:xfrm>
            <a:off x="3429000" y="571500"/>
            <a:ext cx="47700" cy="685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" name="Google Shape;48;p15"/>
          <p:cNvGrpSpPr/>
          <p:nvPr/>
        </p:nvGrpSpPr>
        <p:grpSpPr>
          <a:xfrm>
            <a:off x="3429000" y="1524000"/>
            <a:ext cx="8191425" cy="4667400"/>
            <a:chOff x="3429000" y="1524000"/>
            <a:chExt cx="8191425" cy="4667400"/>
          </a:xfrm>
        </p:grpSpPr>
        <p:sp>
          <p:nvSpPr>
            <p:cNvPr id="49" name="Google Shape;49;p15"/>
            <p:cNvSpPr/>
            <p:nvPr/>
          </p:nvSpPr>
          <p:spPr>
            <a:xfrm>
              <a:off x="3429000" y="1524000"/>
              <a:ext cx="3952800" cy="1428900"/>
            </a:xfrm>
            <a:prstGeom prst="roundRect">
              <a:avLst>
                <a:gd fmla="val 8000" name="adj"/>
              </a:avLst>
            </a:prstGeom>
            <a:solidFill>
              <a:srgbClr val="1E1E1E"/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15"/>
            <p:cNvSpPr txBox="1"/>
            <p:nvPr/>
          </p:nvSpPr>
          <p:spPr>
            <a:xfrm>
              <a:off x="3429000" y="1524000"/>
              <a:ext cx="3952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240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Interactive Dashboards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Designed interactive dashboards using ThingsBoard for real-time telemetry and data visualization.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1" name="Google Shape;51;p15"/>
            <p:cNvSpPr/>
            <p:nvPr/>
          </p:nvSpPr>
          <p:spPr>
            <a:xfrm>
              <a:off x="7667625" y="1524000"/>
              <a:ext cx="3952800" cy="1428900"/>
            </a:xfrm>
            <a:prstGeom prst="roundRect">
              <a:avLst>
                <a:gd fmla="val 8000" name="adj"/>
              </a:avLst>
            </a:prstGeom>
            <a:solidFill>
              <a:srgbClr val="1E1E1E"/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15"/>
            <p:cNvSpPr txBox="1"/>
            <p:nvPr/>
          </p:nvSpPr>
          <p:spPr>
            <a:xfrm>
              <a:off x="7667625" y="1524000"/>
              <a:ext cx="3952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settings_remote</a:t>
              </a:r>
              <a:endParaRPr sz="240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Remote Control &amp; RPC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Implemented Remote Procedure Calls (RPC) for seamless remote device control and management.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3" name="Google Shape;53;p15"/>
            <p:cNvSpPr/>
            <p:nvPr/>
          </p:nvSpPr>
          <p:spPr>
            <a:xfrm>
              <a:off x="3429000" y="3143250"/>
              <a:ext cx="3952800" cy="1428900"/>
            </a:xfrm>
            <a:prstGeom prst="roundRect">
              <a:avLst>
                <a:gd fmla="val 8000" name="adj"/>
              </a:avLst>
            </a:prstGeom>
            <a:solidFill>
              <a:srgbClr val="1E1E1E"/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5"/>
            <p:cNvSpPr txBox="1"/>
            <p:nvPr/>
          </p:nvSpPr>
          <p:spPr>
            <a:xfrm>
              <a:off x="3429000" y="3143250"/>
              <a:ext cx="3952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smart_toy</a:t>
              </a:r>
              <a:endParaRPr sz="240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Rule-Based Automation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Developed complex automation logic, including rule engines for alarms and autonomous control.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5" name="Google Shape;55;p15"/>
            <p:cNvSpPr/>
            <p:nvPr/>
          </p:nvSpPr>
          <p:spPr>
            <a:xfrm>
              <a:off x="7667625" y="3143250"/>
              <a:ext cx="3952800" cy="1428900"/>
            </a:xfrm>
            <a:prstGeom prst="roundRect">
              <a:avLst>
                <a:gd fmla="val 8000" name="adj"/>
              </a:avLst>
            </a:prstGeom>
            <a:solidFill>
              <a:srgbClr val="1E1E1E"/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5"/>
            <p:cNvSpPr txBox="1"/>
            <p:nvPr/>
          </p:nvSpPr>
          <p:spPr>
            <a:xfrm>
              <a:off x="7667625" y="3143250"/>
              <a:ext cx="3952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Visualization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Mastered real-time visualization techniques using advanced charts and integrated telemetry feeds.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3429000" y="4762500"/>
              <a:ext cx="3952800" cy="1428900"/>
            </a:xfrm>
            <a:prstGeom prst="roundRect">
              <a:avLst>
                <a:gd fmla="val 8000" name="adj"/>
              </a:avLst>
            </a:prstGeom>
            <a:solidFill>
              <a:srgbClr val="1E1E1E"/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5"/>
            <p:cNvSpPr txBox="1"/>
            <p:nvPr/>
          </p:nvSpPr>
          <p:spPr>
            <a:xfrm>
              <a:off x="3429000" y="4762500"/>
              <a:ext cx="3952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240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Fault Tolerance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Handled critical fault tolerance scenarios and sensor error conditions to ensure system reliability.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7667625" y="4762500"/>
              <a:ext cx="3952800" cy="1428900"/>
            </a:xfrm>
            <a:prstGeom prst="roundRect">
              <a:avLst>
                <a:gd fmla="val 8000" name="adj"/>
              </a:avLst>
            </a:prstGeom>
            <a:solidFill>
              <a:srgbClr val="1E1E1E"/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5"/>
            <p:cNvSpPr txBox="1"/>
            <p:nvPr/>
          </p:nvSpPr>
          <p:spPr>
            <a:xfrm>
              <a:off x="7667625" y="4762500"/>
              <a:ext cx="3952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cloud_sync</a:t>
              </a:r>
              <a:endParaRPr sz="240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IoT Architecture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Gained a holistic understanding of end-to-end IoT architecture, from physical devices to the cloud.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" name="Google Shape;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1209675" y="2849909"/>
            <a:ext cx="43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/>
          </a:p>
        </p:txBody>
      </p:sp>
      <p:sp>
        <p:nvSpPr>
          <p:cNvPr id="67" name="Google Shape;67;p16"/>
          <p:cNvSpPr txBox="1"/>
          <p:nvPr/>
        </p:nvSpPr>
        <p:spPr>
          <a:xfrm>
            <a:off x="561975" y="3417540"/>
            <a:ext cx="173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Conceptual Framework</a:t>
            </a:r>
            <a:endParaRPr/>
          </a:p>
        </p:txBody>
      </p:sp>
      <p:sp>
        <p:nvSpPr>
          <p:cNvPr id="68" name="Google Shape;68;p16"/>
          <p:cNvSpPr txBox="1"/>
          <p:nvPr/>
        </p:nvSpPr>
        <p:spPr>
          <a:xfrm>
            <a:off x="3619500" y="571500"/>
            <a:ext cx="84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 to IoT</a:t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3429000" y="571500"/>
            <a:ext cx="47700" cy="685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" name="Google Shape;70;p16"/>
          <p:cNvGrpSpPr/>
          <p:nvPr/>
        </p:nvGrpSpPr>
        <p:grpSpPr>
          <a:xfrm>
            <a:off x="3429000" y="1524000"/>
            <a:ext cx="8191500" cy="3238500"/>
            <a:chOff x="3429000" y="1524000"/>
            <a:chExt cx="8191500" cy="3238500"/>
          </a:xfrm>
        </p:grpSpPr>
        <p:sp>
          <p:nvSpPr>
            <p:cNvPr id="71" name="Google Shape;71;p16"/>
            <p:cNvSpPr/>
            <p:nvPr/>
          </p:nvSpPr>
          <p:spPr>
            <a:xfrm>
              <a:off x="3429000" y="1524000"/>
              <a:ext cx="8191500" cy="1143000"/>
            </a:xfrm>
            <a:prstGeom prst="roundRect">
              <a:avLst>
                <a:gd fmla="val 10000" name="adj"/>
              </a:avLst>
            </a:prstGeom>
            <a:solidFill>
              <a:srgbClr val="1E1E1E"/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 txBox="1"/>
            <p:nvPr/>
          </p:nvSpPr>
          <p:spPr>
            <a:xfrm>
              <a:off x="3429000" y="1524000"/>
              <a:ext cx="8191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IoT = network of smart devices.</a:t>
              </a:r>
              <a:r>
                <a:rPr lang="en-US" sz="16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 Sensors collect data and send it to the cloud for real-time monitoring and automated decision-making.</a:t>
              </a:r>
              <a:endParaRPr sz="16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73" name="Google Shape;73;p16"/>
            <p:cNvGrpSpPr/>
            <p:nvPr/>
          </p:nvGrpSpPr>
          <p:grpSpPr>
            <a:xfrm>
              <a:off x="3429000" y="3048000"/>
              <a:ext cx="8143875" cy="1714500"/>
              <a:chOff x="3429000" y="3048000"/>
              <a:chExt cx="8143875" cy="1714500"/>
            </a:xfrm>
          </p:grpSpPr>
          <p:sp>
            <p:nvSpPr>
              <p:cNvPr id="74" name="Google Shape;74;p16"/>
              <p:cNvSpPr/>
              <p:nvPr/>
            </p:nvSpPr>
            <p:spPr>
              <a:xfrm>
                <a:off x="3429000" y="3048000"/>
                <a:ext cx="17145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1E1E1E"/>
              </a:solidFill>
              <a:ln cap="flat" cmpd="sng" w="9525">
                <a:solidFill>
                  <a:srgbClr val="7B2F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16"/>
              <p:cNvSpPr txBox="1"/>
              <p:nvPr/>
            </p:nvSpPr>
            <p:spPr>
              <a:xfrm>
                <a:off x="3429000" y="3048000"/>
                <a:ext cx="1714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>
                    <a:solidFill>
                      <a:srgbClr val="7B2FF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sensors</a:t>
                </a:r>
                <a:endParaRPr sz="40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Sensor</a:t>
                </a:r>
                <a:endParaRPr b="1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6" name="Google Shape;76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143500" y="3848100"/>
                <a:ext cx="4287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6"/>
              <p:cNvSpPr/>
              <p:nvPr/>
            </p:nvSpPr>
            <p:spPr>
              <a:xfrm>
                <a:off x="5572125" y="3048000"/>
                <a:ext cx="17145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1E1E1E"/>
              </a:solidFill>
              <a:ln cap="flat" cmpd="sng" w="9525">
                <a:solidFill>
                  <a:srgbClr val="7B2F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16"/>
              <p:cNvSpPr txBox="1"/>
              <p:nvPr/>
            </p:nvSpPr>
            <p:spPr>
              <a:xfrm>
                <a:off x="5572125" y="3048000"/>
                <a:ext cx="1714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>
                    <a:solidFill>
                      <a:srgbClr val="7B2FF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swap_calls</a:t>
                </a:r>
                <a:endParaRPr sz="40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MQTT</a:t>
                </a:r>
                <a:endParaRPr b="1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pic>
            <p:nvPicPr>
              <p:cNvPr id="79" name="Google Shape;79;p1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286625" y="3848100"/>
                <a:ext cx="428700" cy="114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" name="Google Shape;80;p16"/>
              <p:cNvSpPr/>
              <p:nvPr/>
            </p:nvSpPr>
            <p:spPr>
              <a:xfrm>
                <a:off x="7715250" y="3048000"/>
                <a:ext cx="17145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1E1E1E"/>
              </a:solidFill>
              <a:ln cap="flat" cmpd="sng" w="9525">
                <a:solidFill>
                  <a:srgbClr val="7B2F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6"/>
              <p:cNvSpPr txBox="1"/>
              <p:nvPr/>
            </p:nvSpPr>
            <p:spPr>
              <a:xfrm>
                <a:off x="7715250" y="3048000"/>
                <a:ext cx="1714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>
                    <a:solidFill>
                      <a:srgbClr val="7B2FF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cloud_queue</a:t>
                </a:r>
                <a:endParaRPr sz="40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Cloud</a:t>
                </a:r>
                <a:endParaRPr b="1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82" name="Google Shape;82;p16"/>
              <p:cNvSpPr/>
              <p:nvPr/>
            </p:nvSpPr>
            <p:spPr>
              <a:xfrm>
                <a:off x="9858375" y="3048000"/>
                <a:ext cx="17145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1E1E1E"/>
              </a:solidFill>
              <a:ln cap="flat" cmpd="sng" w="9525">
                <a:solidFill>
                  <a:srgbClr val="7B2FF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16"/>
              <p:cNvSpPr txBox="1"/>
              <p:nvPr/>
            </p:nvSpPr>
            <p:spPr>
              <a:xfrm>
                <a:off x="9858375" y="3048000"/>
                <a:ext cx="17145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0">
                    <a:solidFill>
                      <a:srgbClr val="7B2FF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dashboard</a:t>
                </a:r>
                <a:endParaRPr sz="40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Dashboard</a:t>
                </a:r>
                <a:endParaRPr b="1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pic>
        <p:nvPicPr>
          <p:cNvPr id="84" name="Google Shape;84;p16"/>
          <p:cNvPicPr preferRelativeResize="0"/>
          <p:nvPr/>
        </p:nvPicPr>
        <p:blipFill rotWithShape="1">
          <a:blip r:embed="rId4">
            <a:alphaModFix/>
          </a:blip>
          <a:srcRect b="10" l="0" r="0" t="10"/>
          <a:stretch/>
        </p:blipFill>
        <p:spPr>
          <a:xfrm>
            <a:off x="9429750" y="3848100"/>
            <a:ext cx="428700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9" name="Google Shape;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1200150" y="2849909"/>
            <a:ext cx="45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/>
          </a:p>
        </p:txBody>
      </p:sp>
      <p:sp>
        <p:nvSpPr>
          <p:cNvPr id="91" name="Google Shape;91;p17"/>
          <p:cNvSpPr txBox="1"/>
          <p:nvPr/>
        </p:nvSpPr>
        <p:spPr>
          <a:xfrm>
            <a:off x="900112" y="3417540"/>
            <a:ext cx="105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Challenge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3619500" y="571500"/>
            <a:ext cx="84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3429000" y="571500"/>
            <a:ext cx="47700" cy="685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7"/>
          <p:cNvGrpSpPr/>
          <p:nvPr/>
        </p:nvGrpSpPr>
        <p:grpSpPr>
          <a:xfrm>
            <a:off x="3429000" y="1524000"/>
            <a:ext cx="8382000" cy="3810000"/>
            <a:chOff x="3429000" y="1524000"/>
            <a:chExt cx="8382000" cy="3810000"/>
          </a:xfrm>
        </p:grpSpPr>
        <p:sp>
          <p:nvSpPr>
            <p:cNvPr id="95" name="Google Shape;95;p17"/>
            <p:cNvSpPr/>
            <p:nvPr/>
          </p:nvSpPr>
          <p:spPr>
            <a:xfrm>
              <a:off x="3429000" y="1524000"/>
              <a:ext cx="8382000" cy="3810000"/>
            </a:xfrm>
            <a:prstGeom prst="roundRect">
              <a:avLst>
                <a:gd fmla="val 3000" name="adj"/>
              </a:avLst>
            </a:prstGeom>
            <a:solidFill>
              <a:srgbClr val="1E1E1E"/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 txBox="1"/>
            <p:nvPr/>
          </p:nvSpPr>
          <p:spPr>
            <a:xfrm>
              <a:off x="3619500" y="1714500"/>
              <a:ext cx="8001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9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 traditional industrial environments, monitoring of production lines and warehouse conditions is largely manual and fragmented.</a:t>
              </a:r>
              <a:endParaRPr b="1" sz="12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018">
                  <a:solidFill>
                    <a:srgbClr val="7B2FF7"/>
                  </a:solidFill>
                  <a:latin typeface="Lato"/>
                  <a:ea typeface="Lato"/>
                  <a:cs typeface="Lato"/>
                  <a:sym typeface="Lato"/>
                </a:rPr>
                <a:t>🔹 Key Problems</a:t>
              </a:r>
              <a:endParaRPr b="1" sz="1018">
                <a:solidFill>
                  <a:srgbClr val="7B2FF7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18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❌ No real-time monitoring</a:t>
              </a:r>
              <a:endParaRPr b="1" sz="10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3211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E0E0E0"/>
                </a:buClr>
                <a:buSzPts val="1018"/>
                <a:buFont typeface="Lato"/>
                <a:buChar char="●"/>
              </a:pPr>
              <a:r>
                <a:rPr lang="en-US" sz="1018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Sensor data is not continuously available</a:t>
              </a:r>
              <a:endParaRPr sz="1018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321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0E0E0"/>
                </a:buClr>
                <a:buSzPts val="1018"/>
                <a:buFont typeface="Lato"/>
                <a:buChar char="●"/>
              </a:pPr>
              <a:r>
                <a:rPr lang="en-US" sz="1018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Delays in detecting abnormal conditions</a:t>
              </a:r>
              <a:endParaRPr sz="1018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18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❌ Lack of centralized system</a:t>
              </a:r>
              <a:endParaRPr b="1" sz="10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3211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E0E0E0"/>
                </a:buClr>
                <a:buSzPts val="1018"/>
                <a:buFont typeface="Lato"/>
                <a:buChar char="●"/>
              </a:pPr>
              <a:r>
                <a:rPr lang="en-US" sz="1018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Production and warehouse data are monitored separately</a:t>
              </a:r>
              <a:endParaRPr sz="1018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321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0E0E0"/>
                </a:buClr>
                <a:buSzPts val="1018"/>
                <a:buFont typeface="Lato"/>
                <a:buChar char="●"/>
              </a:pPr>
              <a:r>
                <a:rPr lang="en-US" sz="1018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No unified dashboard</a:t>
              </a:r>
              <a:endParaRPr sz="1018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18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❌ Manual control of systems</a:t>
              </a:r>
              <a:endParaRPr b="1" sz="10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3211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E0E0E0"/>
                </a:buClr>
                <a:buSzPts val="1018"/>
                <a:buFont typeface="Lato"/>
                <a:buChar char="●"/>
              </a:pPr>
              <a:r>
                <a:rPr lang="en-US" sz="1018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Devices like ventilation require human intervention</a:t>
              </a:r>
              <a:endParaRPr sz="1018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321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0E0E0"/>
                </a:buClr>
                <a:buSzPts val="1018"/>
                <a:buFont typeface="Lato"/>
                <a:buChar char="●"/>
              </a:pPr>
              <a:r>
                <a:rPr lang="en-US" sz="1018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No automation based on conditions</a:t>
              </a:r>
              <a:endParaRPr sz="1018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18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❌ No remote access</a:t>
              </a:r>
              <a:endParaRPr b="1" sz="10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3211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E0E0E0"/>
                </a:buClr>
                <a:buSzPts val="1018"/>
                <a:buFont typeface="Lato"/>
                <a:buChar char="●"/>
              </a:pPr>
              <a:r>
                <a:rPr lang="en-US" sz="1018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Systems cannot be controlled or monitored remotely</a:t>
              </a:r>
              <a:endParaRPr sz="1018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18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❌ No intelligent alarm system</a:t>
              </a:r>
              <a:endParaRPr b="1" sz="101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3211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E0E0E0"/>
                </a:buClr>
                <a:buSzPts val="1018"/>
                <a:buFont typeface="Lato"/>
                <a:buChar char="●"/>
              </a:pPr>
              <a:r>
                <a:rPr lang="en-US" sz="1018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Critical conditions are not escalated automatically</a:t>
              </a:r>
              <a:endParaRPr sz="1018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3211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E0E0E0"/>
                </a:buClr>
                <a:buSzPts val="1018"/>
                <a:buFont typeface="Lato"/>
                <a:buChar char="●"/>
              </a:pPr>
              <a:r>
                <a:rPr lang="en-US" sz="1018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No rule-based alert mechanism</a:t>
              </a:r>
              <a:endParaRPr sz="1018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97" name="Google Shape;97;p17"/>
          <p:cNvGrpSpPr/>
          <p:nvPr/>
        </p:nvGrpSpPr>
        <p:grpSpPr>
          <a:xfrm>
            <a:off x="3429000" y="5524500"/>
            <a:ext cx="8382000" cy="762000"/>
            <a:chOff x="3429000" y="5524500"/>
            <a:chExt cx="8382000" cy="762000"/>
          </a:xfrm>
        </p:grpSpPr>
        <p:sp>
          <p:nvSpPr>
            <p:cNvPr id="98" name="Google Shape;98;p17"/>
            <p:cNvSpPr/>
            <p:nvPr/>
          </p:nvSpPr>
          <p:spPr>
            <a:xfrm>
              <a:off x="3429000" y="552450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7B2FF7">
                <a:alpha val="10000"/>
              </a:srgbClr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7"/>
            <p:cNvSpPr txBox="1"/>
            <p:nvPr/>
          </p:nvSpPr>
          <p:spPr>
            <a:xfrm>
              <a:off x="3619500" y="552450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👉 There is a need for a smart, automated, and centralized IoT-based system for real-time monitoring, control, and decision-making in industrial environments.</a:t>
              </a:r>
              <a:endParaRPr b="1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b="0" l="11046" r="11054" t="0"/>
          <a:stretch/>
        </p:blipFill>
        <p:spPr>
          <a:xfrm>
            <a:off x="3429000" y="1905000"/>
            <a:ext cx="26670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 rotWithShape="1">
          <a:blip r:embed="rId4">
            <a:alphaModFix/>
          </a:blip>
          <a:srcRect b="0" l="11191" r="11199" t="0"/>
          <a:stretch/>
        </p:blipFill>
        <p:spPr>
          <a:xfrm>
            <a:off x="6286500" y="1905000"/>
            <a:ext cx="26670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 rotWithShape="1">
          <a:blip r:embed="rId5">
            <a:alphaModFix/>
          </a:blip>
          <a:srcRect b="0" l="11191" r="11199" t="0"/>
          <a:stretch/>
        </p:blipFill>
        <p:spPr>
          <a:xfrm>
            <a:off x="9144000" y="1905000"/>
            <a:ext cx="26670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 rotWithShape="1">
          <a:blip r:embed="rId6">
            <a:alphaModFix/>
          </a:blip>
          <a:srcRect b="0" l="328" r="328" t="0"/>
          <a:stretch/>
        </p:blipFill>
        <p:spPr>
          <a:xfrm>
            <a:off x="3524250" y="2000250"/>
            <a:ext cx="2476500" cy="15240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7">
            <a:alphaModFix/>
          </a:blip>
          <a:srcRect b="0" l="524" r="534" t="0"/>
          <a:stretch/>
        </p:blipFill>
        <p:spPr>
          <a:xfrm>
            <a:off x="6381750" y="2000250"/>
            <a:ext cx="2476500" cy="15240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 rotWithShape="1">
          <a:blip r:embed="rId8">
            <a:alphaModFix/>
          </a:blip>
          <a:srcRect b="0" l="524" r="534" t="0"/>
          <a:stretch/>
        </p:blipFill>
        <p:spPr>
          <a:xfrm>
            <a:off x="9239250" y="2000250"/>
            <a:ext cx="2476500" cy="15240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pic>
        <p:nvPicPr>
          <p:cNvPr descr="image.png" id="110" name="Google Shape;11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0"/>
            <a:ext cx="2857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1204912" y="2849909"/>
            <a:ext cx="44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876300" y="3417540"/>
            <a:ext cx="110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System Design</a:t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3619500" y="571500"/>
            <a:ext cx="84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3429000" y="571500"/>
            <a:ext cx="47700" cy="685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3524250" y="3619500"/>
            <a:ext cx="24765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B2FF7"/>
                </a:solidFill>
                <a:latin typeface="Lato"/>
                <a:ea typeface="Lato"/>
                <a:cs typeface="Lato"/>
                <a:sym typeface="Lato"/>
              </a:rPr>
              <a:t>Node 1 — Production Line</a:t>
            </a:r>
            <a:endParaRPr b="1" sz="1400">
              <a:solidFill>
                <a:srgbClr val="7B2FF7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spcBef>
                <a:spcPts val="75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ato"/>
              <a:buChar char="●"/>
            </a:pP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Machine monitoring system</a:t>
            </a:r>
            <a:endParaRPr sz="10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spcBef>
                <a:spcPts val="375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ato"/>
              <a:buChar char="●"/>
            </a:pP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Temperature, humidity, vibration</a:t>
            </a:r>
            <a:endParaRPr sz="10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spcBef>
                <a:spcPts val="375"/>
              </a:spcBef>
              <a:spcAft>
                <a:spcPts val="375"/>
              </a:spcAft>
              <a:buClr>
                <a:srgbClr val="FFFFFF"/>
              </a:buClr>
              <a:buSzPts val="1050"/>
              <a:buFont typeface="Lato"/>
              <a:buChar char="●"/>
            </a:pP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Machine status &amp; relay control</a:t>
            </a:r>
            <a:endParaRPr sz="10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381750" y="3619500"/>
            <a:ext cx="24765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B2FF7"/>
                </a:solidFill>
                <a:latin typeface="Lato"/>
                <a:ea typeface="Lato"/>
                <a:cs typeface="Lato"/>
                <a:sym typeface="Lato"/>
              </a:rPr>
              <a:t>Node 2 — Warehouse</a:t>
            </a:r>
            <a:endParaRPr b="1" sz="1400">
              <a:solidFill>
                <a:srgbClr val="7B2FF7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spcBef>
                <a:spcPts val="75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ato"/>
              <a:buChar char="●"/>
            </a:pP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Environment monitoring</a:t>
            </a:r>
            <a:endParaRPr sz="10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spcBef>
                <a:spcPts val="375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ato"/>
              <a:buChar char="●"/>
            </a:pP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Light, motion, door detection</a:t>
            </a:r>
            <a:endParaRPr sz="10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spcBef>
                <a:spcPts val="375"/>
              </a:spcBef>
              <a:spcAft>
                <a:spcPts val="375"/>
              </a:spcAft>
              <a:buClr>
                <a:srgbClr val="FFFFFF"/>
              </a:buClr>
              <a:buSzPts val="1050"/>
              <a:buFont typeface="Lato"/>
              <a:buChar char="●"/>
            </a:pP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 ventilation system</a:t>
            </a:r>
            <a:endParaRPr sz="10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9239250" y="3619500"/>
            <a:ext cx="24765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7B2FF7"/>
                </a:solidFill>
                <a:latin typeface="Lato"/>
                <a:ea typeface="Lato"/>
                <a:cs typeface="Lato"/>
                <a:sym typeface="Lato"/>
              </a:rPr>
              <a:t>Cloud (ThingsBoard)</a:t>
            </a:r>
            <a:endParaRPr b="1" sz="1400">
              <a:solidFill>
                <a:srgbClr val="7B2FF7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spcBef>
                <a:spcPts val="75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ato"/>
              <a:buChar char="●"/>
            </a:pP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Real-time dashboard</a:t>
            </a:r>
            <a:endParaRPr sz="10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spcBef>
                <a:spcPts val="375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ato"/>
              <a:buChar char="●"/>
            </a:pP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 visualization &amp; charts</a:t>
            </a:r>
            <a:endParaRPr sz="10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5275" lvl="0" marL="457200" rtl="0" algn="l">
              <a:spcBef>
                <a:spcPts val="375"/>
              </a:spcBef>
              <a:spcAft>
                <a:spcPts val="375"/>
              </a:spcAft>
              <a:buClr>
                <a:srgbClr val="FFFFFF"/>
              </a:buClr>
              <a:buSzPts val="1050"/>
              <a:buFont typeface="Lato"/>
              <a:buChar char="●"/>
            </a:pPr>
            <a:r>
              <a:rPr lang="en-US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Alarm management system</a:t>
            </a:r>
            <a:endParaRPr sz="10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9"/>
          <p:cNvGrpSpPr/>
          <p:nvPr/>
        </p:nvGrpSpPr>
        <p:grpSpPr>
          <a:xfrm>
            <a:off x="3429000" y="1871663"/>
            <a:ext cx="1905000" cy="3271838"/>
            <a:chOff x="3429000" y="1871663"/>
            <a:chExt cx="1905000" cy="3271838"/>
          </a:xfrm>
        </p:grpSpPr>
        <p:pic>
          <p:nvPicPr>
            <p:cNvPr id="123" name="Google Shape;12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43288" y="1871663"/>
              <a:ext cx="1876500" cy="3271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38575" y="4114800"/>
              <a:ext cx="10860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5275" y="3000375"/>
              <a:ext cx="5526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9"/>
            <p:cNvSpPr txBox="1"/>
            <p:nvPr/>
          </p:nvSpPr>
          <p:spPr>
            <a:xfrm>
              <a:off x="3429000" y="4191000"/>
              <a:ext cx="190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Perception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Sensors</a:t>
              </a:r>
              <a:endParaRPr b="0" sz="1000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7" name="Google Shape;127;p19"/>
            <p:cNvSpPr txBox="1"/>
            <p:nvPr/>
          </p:nvSpPr>
          <p:spPr>
            <a:xfrm>
              <a:off x="3838575" y="3048000"/>
              <a:ext cx="1086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Network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MQTT/Ethernet</a:t>
              </a:r>
              <a:endParaRPr b="0" sz="1000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8" name="Google Shape;128;p19"/>
            <p:cNvSpPr txBox="1"/>
            <p:nvPr/>
          </p:nvSpPr>
          <p:spPr>
            <a:xfrm>
              <a:off x="4143375" y="2000250"/>
              <a:ext cx="476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App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Cloud</a:t>
              </a:r>
              <a:endParaRPr b="0" sz="800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descr="image.png" id="129" name="Google Shape;12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2857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1204912" y="2849909"/>
            <a:ext cx="44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923925" y="3417540"/>
            <a:ext cx="1009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 Pipeline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3619500" y="571500"/>
            <a:ext cx="84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3429000" y="571500"/>
            <a:ext cx="47700" cy="685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7620000" y="1905000"/>
            <a:ext cx="4286400" cy="86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B2FF7"/>
                </a:solidFill>
                <a:latin typeface="Lato"/>
                <a:ea typeface="Lato"/>
                <a:cs typeface="Lato"/>
                <a:sym typeface="Lato"/>
              </a:rPr>
              <a:t>📡 Perception Layer</a:t>
            </a:r>
            <a:endParaRPr b="1" sz="1350">
              <a:solidFill>
                <a:srgbClr val="7B2FF7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Sensors collect real-time data</a:t>
            </a:r>
            <a:endParaRPr sz="1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DHT22 (Temp &amp; Humidity) / LM35</a:t>
            </a:r>
            <a:endParaRPr sz="1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LDR, PIR, and Door sensors</a:t>
            </a:r>
            <a:endParaRPr sz="1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7620000" y="3429000"/>
            <a:ext cx="4286400" cy="86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B2FF7"/>
                </a:solidFill>
                <a:latin typeface="Lato"/>
                <a:ea typeface="Lato"/>
                <a:cs typeface="Lato"/>
                <a:sym typeface="Lato"/>
              </a:rPr>
              <a:t>🌐 Network Layer</a:t>
            </a:r>
            <a:endParaRPr b="1" sz="1350">
              <a:solidFill>
                <a:srgbClr val="7B2FF7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Data transmitted using MQTT protocol</a:t>
            </a:r>
            <a:endParaRPr sz="1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Ethernet via W5500 module</a:t>
            </a:r>
            <a:endParaRPr sz="1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Publish/Subscribe model for IoT</a:t>
            </a:r>
            <a:endParaRPr sz="1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7620000" y="4953000"/>
            <a:ext cx="4286400" cy="86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7B2FF7"/>
                </a:solidFill>
                <a:latin typeface="Lato"/>
                <a:ea typeface="Lato"/>
                <a:cs typeface="Lato"/>
                <a:sym typeface="Lato"/>
              </a:rPr>
              <a:t>☁️ Application Layer</a:t>
            </a:r>
            <a:endParaRPr b="1" sz="1350">
              <a:solidFill>
                <a:srgbClr val="7B2FF7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ThingsBoard cloud platform</a:t>
            </a:r>
            <a:endParaRPr sz="1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Real-time dashboard visualization</a:t>
            </a:r>
            <a:endParaRPr sz="1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Lato"/>
              <a:buChar char="●"/>
            </a:pPr>
            <a:r>
              <a:rPr lang="en-US"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Alarm generation &amp; device control</a:t>
            </a:r>
            <a:endParaRPr sz="11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/>
        </p:nvSpPr>
        <p:spPr>
          <a:xfrm>
            <a:off x="762000" y="571500"/>
            <a:ext cx="5000700" cy="110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Node 1: Production Line</a:t>
            </a:r>
            <a:endParaRPr b="1" sz="3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571500" y="571500"/>
            <a:ext cx="47700" cy="13716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571500" y="2286000"/>
            <a:ext cx="5200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🟪 Machine Health Monitoring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952500" y="2762250"/>
            <a:ext cx="4762500" cy="72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Sensors:</a:t>
            </a:r>
            <a:r>
              <a:rPr lang="en-US" sz="1105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DHT22 (Temperature &amp; Humidity), LM35 (Surface Temperature), Vibration Sensor</a:t>
            </a:r>
            <a:endParaRPr sz="1105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Monitoring Parameters:</a:t>
            </a:r>
            <a:r>
              <a:rPr lang="en-US" sz="1105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Ambient temperature, humidity, vibration levels, machine status</a:t>
            </a:r>
            <a:endParaRPr sz="1105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952500" y="3667125"/>
            <a:ext cx="4762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Local Feedback:</a:t>
            </a:r>
            <a:r>
              <a:rPr lang="en-US" sz="13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LED indicators for machine status and sensor health</a:t>
            </a:r>
            <a:endParaRPr sz="13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952500" y="4238625"/>
            <a:ext cx="4762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Control Mechanism:</a:t>
            </a:r>
            <a:r>
              <a:rPr lang="en-US" sz="13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 Relay-based control using RPC for machine ON/OFF</a:t>
            </a:r>
            <a:endParaRPr sz="13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62250"/>
            <a:ext cx="2286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667125"/>
            <a:ext cx="2286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238625"/>
            <a:ext cx="2286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igh-tech IoT dashboard interface for industrial machine monitoring, featuring real-time line charts for temperature and vibration, status gauges with neon purple accents, and control buttons labeled 'START' and 'STOP'. The UI is clean, dark-themed, and looks like a professional SCADA or ThingsBoard interface." id="150" name="Google Shape;150;p20"/>
          <p:cNvPicPr preferRelativeResize="0"/>
          <p:nvPr/>
        </p:nvPicPr>
        <p:blipFill rotWithShape="1">
          <a:blip r:embed="rId4">
            <a:alphaModFix/>
          </a:blip>
          <a:srcRect b="18358" l="0" r="0" t="18358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high-tech IoT dashboard for a warehouse automation system, featuring real-time telemetry widgets for humidity and light levels, a 3D floor plan of a warehouse with motion sensors highlighted in neon purple, and a status panel showing 'Ventilation: ON' and 'Security: ARMED'. The interface is dark-themed with sleek purple accents, consistent with industrial monitoring software." id="155" name="Google Shape;155;p21"/>
          <p:cNvPicPr preferRelativeResize="0"/>
          <p:nvPr/>
        </p:nvPicPr>
        <p:blipFill rotWithShape="1">
          <a:blip r:embed="rId4">
            <a:alphaModFix/>
          </a:blip>
          <a:srcRect b="0" l="25000" r="2500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/>
        </p:nvSpPr>
        <p:spPr>
          <a:xfrm>
            <a:off x="762000" y="571500"/>
            <a:ext cx="500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Node 2: Warehouse</a:t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571500" y="571500"/>
            <a:ext cx="47700" cy="685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571500" y="1714500"/>
            <a:ext cx="51435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🟪 Facility Environment &amp; Security</a:t>
            </a:r>
            <a:endParaRPr b="1" i="0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952500" y="2286000"/>
            <a:ext cx="4762500" cy="72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Sensors: </a:t>
            </a:r>
            <a:r>
              <a:rPr b="0" lang="en-US" sz="1105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DHT22 (Temp &amp; Humidity), LDR (Light Detection), PIR (Motion Detection), Reed Switch (Door Status)</a:t>
            </a:r>
            <a:endParaRPr b="1" sz="1105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110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Monitoring Parameters: </a:t>
            </a:r>
            <a:r>
              <a:rPr b="0" lang="en-US" sz="1105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Ambient conditions, light levels, motion activity, and access points</a:t>
            </a:r>
            <a:endParaRPr b="1" sz="1105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952500" y="3238500"/>
            <a:ext cx="4762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75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Automation Logic: </a:t>
            </a:r>
            <a:r>
              <a:rPr b="0" lang="en-US" sz="13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Relay-based ventilation system automatically turns ON when humidity &gt; 85%</a:t>
            </a:r>
            <a:endParaRPr b="1"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952500" y="4000500"/>
            <a:ext cx="47625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Security Features: </a:t>
            </a:r>
            <a:r>
              <a:rPr b="0" lang="en-US" sz="13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Intrusion alerts generated via motion detection and door status monitoring</a:t>
            </a:r>
            <a:endParaRPr b="1"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2" name="Google Shape;16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86000"/>
            <a:ext cx="2286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38500"/>
            <a:ext cx="2286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00500"/>
            <a:ext cx="228600" cy="2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/>
        </p:nvSpPr>
        <p:spPr>
          <a:xfrm>
            <a:off x="1047750" y="476250"/>
            <a:ext cx="84012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Centralized Monitoring Dashboard</a:t>
            </a:r>
            <a:endParaRPr b="1" sz="3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762000" y="533400"/>
            <a:ext cx="47700" cy="5715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22"/>
          <p:cNvGrpSpPr/>
          <p:nvPr/>
        </p:nvGrpSpPr>
        <p:grpSpPr>
          <a:xfrm>
            <a:off x="742950" y="1409700"/>
            <a:ext cx="10706100" cy="3276600"/>
            <a:chOff x="742950" y="1409700"/>
            <a:chExt cx="10706100" cy="3276600"/>
          </a:xfrm>
        </p:grpSpPr>
        <p:sp>
          <p:nvSpPr>
            <p:cNvPr id="172" name="Google Shape;172;p22"/>
            <p:cNvSpPr/>
            <p:nvPr/>
          </p:nvSpPr>
          <p:spPr>
            <a:xfrm>
              <a:off x="742950" y="1409700"/>
              <a:ext cx="10706100" cy="3276600"/>
            </a:xfrm>
            <a:prstGeom prst="roundRect">
              <a:avLst>
                <a:gd fmla="val 4069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3" name="Google Shape;173;p22"/>
            <p:cNvPicPr preferRelativeResize="0"/>
            <p:nvPr/>
          </p:nvPicPr>
          <p:blipFill rotWithShape="1">
            <a:blip r:embed="rId3">
              <a:alphaModFix/>
            </a:blip>
            <a:srcRect b="22173" l="0" r="0" t="22173"/>
            <a:stretch/>
          </p:blipFill>
          <p:spPr>
            <a:xfrm>
              <a:off x="762000" y="1428750"/>
              <a:ext cx="10668000" cy="3238500"/>
            </a:xfrm>
            <a:prstGeom prst="roundRect">
              <a:avLst>
                <a:gd fmla="val 3529" name="adj"/>
              </a:avLst>
            </a:prstGeom>
            <a:noFill/>
            <a:ln>
              <a:noFill/>
            </a:ln>
          </p:spPr>
        </p:pic>
      </p:grpSp>
      <p:grpSp>
        <p:nvGrpSpPr>
          <p:cNvPr id="174" name="Google Shape;174;p22"/>
          <p:cNvGrpSpPr/>
          <p:nvPr/>
        </p:nvGrpSpPr>
        <p:grpSpPr>
          <a:xfrm>
            <a:off x="762000" y="4953000"/>
            <a:ext cx="10668000" cy="1524000"/>
            <a:chOff x="762000" y="4953000"/>
            <a:chExt cx="10668000" cy="1524000"/>
          </a:xfrm>
        </p:grpSpPr>
        <p:sp>
          <p:nvSpPr>
            <p:cNvPr id="175" name="Google Shape;175;p22"/>
            <p:cNvSpPr/>
            <p:nvPr/>
          </p:nvSpPr>
          <p:spPr>
            <a:xfrm>
              <a:off x="762000" y="4953000"/>
              <a:ext cx="5715000" cy="1524000"/>
            </a:xfrm>
            <a:prstGeom prst="roundRect">
              <a:avLst>
                <a:gd fmla="val 5000" name="adj"/>
              </a:avLst>
            </a:prstGeom>
            <a:solidFill>
              <a:srgbClr val="1A1A1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2"/>
            <p:cNvSpPr txBox="1"/>
            <p:nvPr/>
          </p:nvSpPr>
          <p:spPr>
            <a:xfrm>
              <a:off x="952500" y="5095875"/>
              <a:ext cx="5334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🟪 Key Features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E0E0E0"/>
                </a:buClr>
                <a:buSzPts val="1100"/>
                <a:buFont typeface="Lato"/>
                <a:buChar char="●"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Combined monitoring of Production Line (Node 1) and Warehouse (Node 2)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E0E0E0"/>
                </a:buClr>
                <a:buSzPts val="1100"/>
                <a:buFont typeface="Lato"/>
                <a:buChar char="●"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Real-time visualization of temperature, humidity, and system parameters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E0E0E0"/>
                </a:buClr>
                <a:buSzPts val="1100"/>
                <a:buFont typeface="Lato"/>
                <a:buChar char="●"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Time-series graph for trend analysis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E0E0E0"/>
                </a:buClr>
                <a:buSzPts val="1100"/>
                <a:buFont typeface="Lato"/>
                <a:buChar char="●"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Centralized alarm management system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7" name="Google Shape;177;p22"/>
            <p:cNvSpPr/>
            <p:nvPr/>
          </p:nvSpPr>
          <p:spPr>
            <a:xfrm>
              <a:off x="6667500" y="4953000"/>
              <a:ext cx="4762500" cy="1524000"/>
            </a:xfrm>
            <a:prstGeom prst="roundRect">
              <a:avLst>
                <a:gd fmla="val 5000" name="adj"/>
              </a:avLst>
            </a:prstGeom>
            <a:solidFill>
              <a:srgbClr val="7B2FF7">
                <a:alpha val="10000"/>
              </a:srgbClr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2"/>
            <p:cNvSpPr txBox="1"/>
            <p:nvPr/>
          </p:nvSpPr>
          <p:spPr>
            <a:xfrm>
              <a:off x="6858000" y="5095875"/>
              <a:ext cx="4381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🟪 System Insight</a:t>
              </a:r>
              <a:endParaRPr b="1" sz="1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"Provides a unified interface for monitoring, analysis, and decision-making in real time."</a:t>
              </a:r>
              <a:endParaRPr i="1"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7B2FF7"/>
                  </a:solidFill>
                  <a:latin typeface="Lato"/>
                  <a:ea typeface="Lato"/>
                  <a:cs typeface="Lato"/>
                  <a:sym typeface="Lato"/>
                </a:rPr>
                <a:t>INDUSTRIAL TELEMETRY VIA MQTT</a:t>
              </a:r>
              <a:endParaRPr b="1" sz="1000">
                <a:solidFill>
                  <a:srgbClr val="7B2FF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/>
        </p:nvSpPr>
        <p:spPr>
          <a:xfrm>
            <a:off x="1204912" y="2849909"/>
            <a:ext cx="44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990600" y="3417540"/>
            <a:ext cx="87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Smart Logic</a:t>
            </a:r>
            <a:endParaRPr/>
          </a:p>
        </p:txBody>
      </p:sp>
      <p:sp>
        <p:nvSpPr>
          <p:cNvPr id="186" name="Google Shape;186;p23"/>
          <p:cNvSpPr txBox="1"/>
          <p:nvPr/>
        </p:nvSpPr>
        <p:spPr>
          <a:xfrm>
            <a:off x="3619500" y="571500"/>
            <a:ext cx="84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Automation &amp; Features</a:t>
            </a:r>
            <a:endParaRPr/>
          </a:p>
        </p:txBody>
      </p:sp>
      <p:sp>
        <p:nvSpPr>
          <p:cNvPr id="187" name="Google Shape;187;p23"/>
          <p:cNvSpPr/>
          <p:nvPr/>
        </p:nvSpPr>
        <p:spPr>
          <a:xfrm>
            <a:off x="3429000" y="571500"/>
            <a:ext cx="47700" cy="685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p23"/>
          <p:cNvGrpSpPr/>
          <p:nvPr/>
        </p:nvGrpSpPr>
        <p:grpSpPr>
          <a:xfrm>
            <a:off x="3429000" y="2286000"/>
            <a:ext cx="8382000" cy="3619500"/>
            <a:chOff x="3429000" y="2286000"/>
            <a:chExt cx="8382000" cy="3619500"/>
          </a:xfrm>
        </p:grpSpPr>
        <p:sp>
          <p:nvSpPr>
            <p:cNvPr id="189" name="Google Shape;189;p23"/>
            <p:cNvSpPr/>
            <p:nvPr/>
          </p:nvSpPr>
          <p:spPr>
            <a:xfrm>
              <a:off x="3429000" y="2286000"/>
              <a:ext cx="2667000" cy="3619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3"/>
            <p:cNvSpPr txBox="1"/>
            <p:nvPr/>
          </p:nvSpPr>
          <p:spPr>
            <a:xfrm>
              <a:off x="3429000" y="2286000"/>
              <a:ext cx="2667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air</a:t>
              </a:r>
              <a:endParaRPr sz="280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Auto Ventilation</a:t>
              </a:r>
              <a:endParaRPr b="1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7B2FF7"/>
                  </a:solidFill>
                  <a:latin typeface="Poppins"/>
                  <a:ea typeface="Poppins"/>
                  <a:cs typeface="Poppins"/>
                  <a:sym typeface="Poppins"/>
                </a:rPr>
                <a:t>IF</a:t>
              </a:r>
              <a:r>
                <a:rPr lang="en-US" sz="110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 humidity ≥ 85%</a:t>
              </a:r>
              <a:endParaRPr sz="1100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7B2FF7"/>
                  </a:solidFill>
                  <a:latin typeface="Poppins"/>
                  <a:ea typeface="Poppins"/>
                  <a:cs typeface="Poppins"/>
                  <a:sym typeface="Poppins"/>
                </a:rPr>
                <a:t>THEN</a:t>
              </a:r>
              <a:r>
                <a:rPr lang="en-US" sz="110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 relay turns ON</a:t>
              </a:r>
              <a:endParaRPr sz="1100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BDBDBD"/>
                  </a:solidFill>
                  <a:latin typeface="Lato"/>
                  <a:ea typeface="Lato"/>
                  <a:cs typeface="Lato"/>
                  <a:sym typeface="Lato"/>
                </a:rPr>
                <a:t>Activates ventilation system automatically</a:t>
              </a:r>
              <a:endParaRPr sz="11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1" name="Google Shape;191;p23"/>
            <p:cNvSpPr/>
            <p:nvPr/>
          </p:nvSpPr>
          <p:spPr>
            <a:xfrm>
              <a:off x="6286500" y="2286000"/>
              <a:ext cx="2667000" cy="3619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3"/>
            <p:cNvSpPr txBox="1"/>
            <p:nvPr/>
          </p:nvSpPr>
          <p:spPr>
            <a:xfrm>
              <a:off x="6286500" y="2286000"/>
              <a:ext cx="2667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notification_important</a:t>
              </a:r>
              <a:endParaRPr sz="280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Safety Alarm</a:t>
              </a:r>
              <a:endParaRPr b="1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7B2FF7"/>
                  </a:solidFill>
                  <a:latin typeface="Poppins"/>
                  <a:ea typeface="Poppins"/>
                  <a:cs typeface="Poppins"/>
                  <a:sym typeface="Poppins"/>
                </a:rPr>
                <a:t>IF</a:t>
              </a:r>
              <a:r>
                <a:rPr lang="en-US" sz="110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 temp &gt; 35°C OR vib. high</a:t>
              </a:r>
              <a:endParaRPr sz="1100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7B2FF7"/>
                  </a:solidFill>
                  <a:latin typeface="Poppins"/>
                  <a:ea typeface="Poppins"/>
                  <a:cs typeface="Poppins"/>
                  <a:sym typeface="Poppins"/>
                </a:rPr>
                <a:t>THEN</a:t>
              </a:r>
              <a:r>
                <a:rPr lang="en-US" sz="110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 critical alarm triggered</a:t>
              </a:r>
              <a:endParaRPr sz="1100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BDBDBD"/>
                  </a:solidFill>
                  <a:latin typeface="Lato"/>
                  <a:ea typeface="Lato"/>
                  <a:cs typeface="Lato"/>
                  <a:sym typeface="Lato"/>
                </a:rPr>
                <a:t>Displayed on dashboard</a:t>
              </a:r>
              <a:endParaRPr sz="11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3" name="Google Shape;193;p23"/>
            <p:cNvSpPr/>
            <p:nvPr/>
          </p:nvSpPr>
          <p:spPr>
            <a:xfrm>
              <a:off x="9144000" y="2286000"/>
              <a:ext cx="2667000" cy="3619500"/>
            </a:xfrm>
            <a:prstGeom prst="roundRect">
              <a:avLst>
                <a:gd fmla="val 5714" name="adj"/>
              </a:avLst>
            </a:prstGeom>
            <a:solidFill>
              <a:srgbClr val="1A1A1A"/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3"/>
            <p:cNvSpPr txBox="1"/>
            <p:nvPr/>
          </p:nvSpPr>
          <p:spPr>
            <a:xfrm>
              <a:off x="9144000" y="2286000"/>
              <a:ext cx="26670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7B2F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settings_remote</a:t>
              </a:r>
              <a:endParaRPr sz="2800">
                <a:solidFill>
                  <a:srgbClr val="7B2F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Remote RPC Control</a:t>
              </a:r>
              <a:endParaRPr b="1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Manual override from ThingsBoard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ON/OFF control of relay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Works in real-time</a:t>
              </a:r>
              <a:endParaRPr sz="11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857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 txBox="1"/>
          <p:nvPr/>
        </p:nvSpPr>
        <p:spPr>
          <a:xfrm>
            <a:off x="1204912" y="2849909"/>
            <a:ext cx="44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09</a:t>
            </a:r>
            <a:endParaRPr/>
          </a:p>
        </p:txBody>
      </p:sp>
      <p:sp>
        <p:nvSpPr>
          <p:cNvPr id="201" name="Google Shape;201;p24"/>
          <p:cNvSpPr txBox="1"/>
          <p:nvPr/>
        </p:nvSpPr>
        <p:spPr>
          <a:xfrm>
            <a:off x="1028700" y="3417540"/>
            <a:ext cx="80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Evaluation</a:t>
            </a:r>
            <a:endParaRPr/>
          </a:p>
        </p:txBody>
      </p:sp>
      <p:sp>
        <p:nvSpPr>
          <p:cNvPr id="202" name="Google Shape;202;p24"/>
          <p:cNvSpPr txBox="1"/>
          <p:nvPr/>
        </p:nvSpPr>
        <p:spPr>
          <a:xfrm>
            <a:off x="3619500" y="571500"/>
            <a:ext cx="84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Results &amp; Challenges</a:t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3429000" y="571500"/>
            <a:ext cx="47700" cy="685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24"/>
          <p:cNvGrpSpPr/>
          <p:nvPr/>
        </p:nvGrpSpPr>
        <p:grpSpPr>
          <a:xfrm>
            <a:off x="3429000" y="2095500"/>
            <a:ext cx="8191650" cy="3810000"/>
            <a:chOff x="3429000" y="2095500"/>
            <a:chExt cx="8191650" cy="3810000"/>
          </a:xfrm>
        </p:grpSpPr>
        <p:sp>
          <p:nvSpPr>
            <p:cNvPr id="205" name="Google Shape;205;p24"/>
            <p:cNvSpPr/>
            <p:nvPr/>
          </p:nvSpPr>
          <p:spPr>
            <a:xfrm>
              <a:off x="3429000" y="2095500"/>
              <a:ext cx="3905400" cy="3810000"/>
            </a:xfrm>
            <a:prstGeom prst="roundRect">
              <a:avLst>
                <a:gd fmla="val 3000" name="adj"/>
              </a:avLst>
            </a:prstGeom>
            <a:solidFill>
              <a:srgbClr val="1A1A1A"/>
            </a:solidFill>
            <a:ln cap="flat" cmpd="sng" w="9525">
              <a:solidFill>
                <a:srgbClr val="00C8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4"/>
            <p:cNvSpPr txBox="1"/>
            <p:nvPr/>
          </p:nvSpPr>
          <p:spPr>
            <a:xfrm>
              <a:off x="3429000" y="2095500"/>
              <a:ext cx="39054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C85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1" lang="en-US" sz="1800">
                  <a:solidFill>
                    <a:srgbClr val="00C851"/>
                  </a:solidFill>
                  <a:latin typeface="Poppins"/>
                  <a:ea typeface="Poppins"/>
                  <a:cs typeface="Poppins"/>
                  <a:sym typeface="Poppins"/>
                </a:rPr>
                <a:t>Achievements</a:t>
              </a:r>
              <a:endParaRPr b="1" sz="1800">
                <a:solidFill>
                  <a:srgbClr val="00C85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E0E0E0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Real-time data transmission using MQTT (5 sec interval)</a:t>
              </a:r>
              <a:endParaRPr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0E0E0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Successful integration of Node 1 and Node 2</a:t>
              </a:r>
              <a:endParaRPr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0E0E0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Automation logic working (auto ventilation &amp; alarms)</a:t>
              </a:r>
              <a:endParaRPr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0E0E0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Reliable dashboard visualization on ThingsBoard</a:t>
              </a:r>
              <a:endParaRPr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E0E0E0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Stable system performance with continuous uptime</a:t>
              </a:r>
              <a:endParaRPr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7715250" y="2095500"/>
              <a:ext cx="3905400" cy="3810000"/>
            </a:xfrm>
            <a:prstGeom prst="roundRect">
              <a:avLst>
                <a:gd fmla="val 3000" name="adj"/>
              </a:avLst>
            </a:prstGeom>
            <a:solidFill>
              <a:srgbClr val="1A1A1A"/>
            </a:solidFill>
            <a:ln cap="flat" cmpd="sng" w="9525">
              <a:solidFill>
                <a:srgbClr val="F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4"/>
            <p:cNvSpPr txBox="1"/>
            <p:nvPr/>
          </p:nvSpPr>
          <p:spPr>
            <a:xfrm>
              <a:off x="7715250" y="2095500"/>
              <a:ext cx="39054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r>
                <a:rPr b="1" lang="en-US" sz="1800">
                  <a:solidFill>
                    <a:srgbClr val="FF4444"/>
                  </a:solidFill>
                  <a:latin typeface="Poppins"/>
                  <a:ea typeface="Poppins"/>
                  <a:cs typeface="Poppins"/>
                  <a:sym typeface="Poppins"/>
                </a:rPr>
                <a:t>Challenges</a:t>
              </a:r>
              <a:endParaRPr b="1" sz="1800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E0E0E0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MQTT broker latency during high data flow</a:t>
              </a:r>
              <a:endParaRPr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0E0E0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Sensor calibration variations (DHT22 / LM35)</a:t>
              </a:r>
              <a:endParaRPr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E0E0E0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RPC delay and occasional timeout issues</a:t>
              </a:r>
              <a:endParaRPr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E0E0E0"/>
                </a:buClr>
                <a:buSzPts val="1200"/>
                <a:buFont typeface="Lato"/>
                <a:buChar char="●"/>
              </a:pPr>
              <a:r>
                <a:rPr lang="en-US" sz="1200">
                  <a:solidFill>
                    <a:srgbClr val="E0E0E0"/>
                  </a:solidFill>
                  <a:latin typeface="Lato"/>
                  <a:ea typeface="Lato"/>
                  <a:cs typeface="Lato"/>
                  <a:sym typeface="Lato"/>
                </a:rPr>
                <a:t>Dashboard configuration and rule engine setup</a:t>
              </a:r>
              <a:endParaRPr sz="12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857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 txBox="1"/>
          <p:nvPr/>
        </p:nvSpPr>
        <p:spPr>
          <a:xfrm>
            <a:off x="748450" y="2849899"/>
            <a:ext cx="15858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END</a:t>
            </a:r>
            <a:endParaRPr b="1" sz="2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1009650" y="3417541"/>
            <a:ext cx="8382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b="0" sz="135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3429000" y="571500"/>
            <a:ext cx="47700" cy="68580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 txBox="1"/>
          <p:nvPr/>
        </p:nvSpPr>
        <p:spPr>
          <a:xfrm>
            <a:off x="3619500" y="571500"/>
            <a:ext cx="8401200" cy="68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 b="1" sz="444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3619500" y="1714500"/>
            <a:ext cx="7620000" cy="14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E0E0E0"/>
                </a:solidFill>
                <a:latin typeface="Lato"/>
                <a:ea typeface="Lato"/>
                <a:cs typeface="Lato"/>
                <a:sym typeface="Lato"/>
              </a:rPr>
              <a:t>Thank you for providing this opportunity. This project was highly engaging and provided valuable hands-on experience in IoT system design and implementation.</a:t>
            </a:r>
            <a:endParaRPr b="0" sz="2000">
              <a:solidFill>
                <a:srgbClr val="E0E0E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7B2FF7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19" name="Google Shape;219;p25"/>
          <p:cNvGrpSpPr/>
          <p:nvPr/>
        </p:nvGrpSpPr>
        <p:grpSpPr>
          <a:xfrm>
            <a:off x="3619500" y="4572000"/>
            <a:ext cx="4286400" cy="1143000"/>
            <a:chOff x="3619500" y="4572000"/>
            <a:chExt cx="4286400" cy="1143000"/>
          </a:xfrm>
        </p:grpSpPr>
        <p:sp>
          <p:nvSpPr>
            <p:cNvPr id="220" name="Google Shape;220;p25"/>
            <p:cNvSpPr/>
            <p:nvPr/>
          </p:nvSpPr>
          <p:spPr>
            <a:xfrm>
              <a:off x="3619500" y="4572000"/>
              <a:ext cx="4286400" cy="1143000"/>
            </a:xfrm>
            <a:prstGeom prst="roundRect">
              <a:avLst>
                <a:gd fmla="val 10000" name="adj"/>
              </a:avLst>
            </a:prstGeom>
            <a:solidFill>
              <a:srgbClr val="1A1A1A"/>
            </a:solidFill>
            <a:ln cap="flat" cmpd="sng" w="9525">
              <a:solidFill>
                <a:srgbClr val="7B2FF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5"/>
            <p:cNvSpPr txBox="1"/>
            <p:nvPr/>
          </p:nvSpPr>
          <p:spPr>
            <a:xfrm>
              <a:off x="3810000" y="4714875"/>
              <a:ext cx="3905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7B2FF7"/>
                  </a:solidFill>
                  <a:latin typeface="Poppins"/>
                  <a:ea typeface="Poppins"/>
                  <a:cs typeface="Poppins"/>
                  <a:sym typeface="Poppins"/>
                </a:rPr>
                <a:t>Brijesh Ahirwar</a:t>
              </a:r>
              <a:endParaRPr b="1" sz="1400">
                <a:solidFill>
                  <a:srgbClr val="7B2FF7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E0E0E0"/>
                  </a:solidFill>
                  <a:latin typeface="Poppins"/>
                  <a:ea typeface="Poppins"/>
                  <a:cs typeface="Poppins"/>
                  <a:sym typeface="Poppins"/>
                </a:rPr>
                <a:t>IIT (BHU), Varanasi</a:t>
              </a:r>
              <a:endParaRPr sz="1100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22" name="Google Shape;222;p25"/>
          <p:cNvGrpSpPr/>
          <p:nvPr/>
        </p:nvGrpSpPr>
        <p:grpSpPr>
          <a:xfrm>
            <a:off x="8191500" y="4572000"/>
            <a:ext cx="3333900" cy="1143000"/>
            <a:chOff x="8191500" y="4572000"/>
            <a:chExt cx="3333900" cy="1143000"/>
          </a:xfrm>
        </p:grpSpPr>
        <p:sp>
          <p:nvSpPr>
            <p:cNvPr id="223" name="Google Shape;223;p25"/>
            <p:cNvSpPr/>
            <p:nvPr/>
          </p:nvSpPr>
          <p:spPr>
            <a:xfrm>
              <a:off x="8191500" y="4572000"/>
              <a:ext cx="3333900" cy="1143000"/>
            </a:xfrm>
            <a:prstGeom prst="roundRect">
              <a:avLst>
                <a:gd fmla="val 10000" name="adj"/>
              </a:avLst>
            </a:prstGeom>
            <a:solidFill>
              <a:srgbClr val="1A1A1A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5"/>
            <p:cNvSpPr txBox="1"/>
            <p:nvPr/>
          </p:nvSpPr>
          <p:spPr>
            <a:xfrm>
              <a:off x="8382000" y="4714875"/>
              <a:ext cx="2952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000">
                  <a:solidFill>
                    <a:srgbClr val="BDBDBD"/>
                  </a:solidFill>
                  <a:latin typeface="Lato"/>
                  <a:ea typeface="Lato"/>
                  <a:cs typeface="Lato"/>
                  <a:sym typeface="Lato"/>
                </a:rPr>
                <a:t>Developed a comprehensive IoT solution integrating hardware, network protocols, and cloud computing for industrial intelligence.</a:t>
              </a:r>
              <a:endParaRPr i="1" sz="10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